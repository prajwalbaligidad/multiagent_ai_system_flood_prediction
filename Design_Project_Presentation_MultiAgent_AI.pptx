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240"/>
                </a:solidFill>
              </a:defRPr>
            </a:pPr>
            <a:r>
              <a:t>Autonomous Multi-Agent AI System for Disaster Prediction and Emergency Response</a:t>
            </a:r>
          </a:p>
          <a:p>
            <a:pPr>
              <a:defRPr sz="1300">
                <a:solidFill>
                  <a:srgbClr val="0E7490"/>
                </a:solidFill>
              </a:defRPr>
            </a:pPr>
            <a:r>
              <a:t>Design Project - 1  |  Course Code: E1CSA313 / E1ITA306  |  Alliance College of Engineering and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4965"/>
                </a:solidFill>
              </a:defRPr>
            </a:pPr>
            <a:r>
              <a:t>TEAM MEMBERS: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1. Nithin R (2411021060712)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2. Prem Tiwari (2411021060737)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3. Prajwal Baligidad (2411021060725)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4. Suraj Alias Harsh Sujay Shirodkar (2411021060708)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4965"/>
                </a:solidFill>
              </a:defRPr>
            </a:pPr>
            <a:r>
              <a:t>PROJECT MENTOR:</a:t>
            </a:r>
          </a:p>
          <a:p>
            <a:pPr>
              <a:defRPr sz="1500" b="1">
                <a:solidFill>
                  <a:srgbClr val="0F2240"/>
                </a:solidFill>
              </a:defRPr>
            </a:pPr>
            <a:r>
              <a:t>Prof. Ananthanagu U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Department of Computer Science and Engineering</a:t>
            </a:r>
            <a:br/>
            <a:r>
              <a:t>Alliance University,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1. Introduction — </a:t>
            </a:r>
            <a:r>
              <a:rPr b="0">
                <a:solidFill>
                  <a:srgbClr val="1E293B"/>
                </a:solidFill>
              </a:rPr>
              <a:t>Motivation and necessity of intelligent coordination in flood disaster management.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2. Review of Literature — </a:t>
            </a:r>
            <a:r>
              <a:rPr b="0">
                <a:solidFill>
                  <a:srgbClr val="1E293B"/>
                </a:solidFill>
              </a:rPr>
              <a:t>Analysis of 4 contemporary papers (Edge-AI, MARL, Agentic Copilot, Decentralized FL).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3. Observations &amp; Limitations from Literature — </a:t>
            </a:r>
            <a:r>
              <a:rPr b="0">
                <a:solidFill>
                  <a:srgbClr val="1E293B"/>
                </a:solidFill>
              </a:rPr>
              <a:t>Identified research gaps, cloud latency, optical blindness, and need for BDI multi-agent loops.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4. Problem Definition &amp; Scope — </a:t>
            </a:r>
            <a:r>
              <a:rPr b="0">
                <a:solidFill>
                  <a:srgbClr val="1E293B"/>
                </a:solidFill>
              </a:rPr>
              <a:t>Brahmaputra and Assam river basin multi-modal early warning problem statement.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5. Proposed System Architecture &amp; Modules — </a:t>
            </a:r>
            <a:r>
              <a:rPr b="0">
                <a:solidFill>
                  <a:srgbClr val="1E293B"/>
                </a:solidFill>
              </a:rPr>
              <a:t>6-layer architecture, 4 specialist AI agents, blackboard bus, and safety fusion engine.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6. Hardware &amp; Software Requirements — </a:t>
            </a:r>
            <a:r>
              <a:rPr b="0">
                <a:solidFill>
                  <a:srgbClr val="1E293B"/>
                </a:solidFill>
              </a:rPr>
              <a:t>Edge-optimized deployment parameters and complete Python 3.13 ML tech stack.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7. Novelty, Experimentation &amp; Results — </a:t>
            </a:r>
            <a:r>
              <a:rPr b="0">
                <a:solidFill>
                  <a:srgbClr val="1E293B"/>
                </a:solidFill>
              </a:rPr>
              <a:t>3,600-sample 5-station dataset validation, &gt;99.6% accuracy, and &lt;4ms local execution.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8. Conclusion, References &amp; Project Artifacts — </a:t>
            </a:r>
            <a:r>
              <a:rPr b="0">
                <a:solidFill>
                  <a:srgbClr val="1E293B"/>
                </a:solidFill>
              </a:rPr>
              <a:t>Academic citations, code implementation snippets, submission page, and plagiarism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Introduction: Why Disaster Management Needs an Intelligent Coordination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</a:defRPr>
            </a:pPr>
            <a:r>
              <a:t>•  High-Velocity Deluges Demand Real-Time Speed: </a:t>
            </a:r>
            <a:r>
              <a:rPr b="0">
                <a:solidFill>
                  <a:srgbClr val="1E293B"/>
                </a:solidFill>
              </a:rPr>
              <a:t>Flash floods and river breaches require sub-second risk assessment and rapid emergency response dispatch.</a:t>
            </a:r>
          </a:p>
          <a:p>
            <a:pPr>
              <a:defRPr sz="1300" b="1">
                <a:solidFill>
                  <a:srgbClr val="0F2240"/>
                </a:solidFill>
              </a:defRPr>
            </a:pPr>
            <a:r>
              <a:t>•  Heterogeneous Multi-Source Ingestion: </a:t>
            </a:r>
            <a:r>
              <a:rPr b="0">
                <a:solidFill>
                  <a:srgbClr val="1E293B"/>
                </a:solidFill>
              </a:rPr>
              <a:t>Disaster response requires unifying disparate streams: IMD meteorology, CWC river telemetry, Sentinel-1 SAR radar, and SRTM DEM topography.</a:t>
            </a:r>
          </a:p>
          <a:p>
            <a:pPr>
              <a:defRPr sz="1300" b="1">
                <a:solidFill>
                  <a:srgbClr val="0F2240"/>
                </a:solidFill>
              </a:defRPr>
            </a:pPr>
            <a:r>
              <a:t>•  Monolithic ML Fragility: </a:t>
            </a:r>
            <a:r>
              <a:rPr b="0">
                <a:solidFill>
                  <a:srgbClr val="1E293B"/>
                </a:solidFill>
              </a:rPr>
              <a:t>Single-model systems fail under sensor dropouts, noise anomalies, and severe monsoon cloud cover occlusions.</a:t>
            </a:r>
          </a:p>
          <a:p>
            <a:pPr>
              <a:defRPr sz="1300" b="1">
                <a:solidFill>
                  <a:srgbClr val="0F2240"/>
                </a:solidFill>
              </a:defRPr>
            </a:pPr>
            <a:r>
              <a:t>•  Multi-Agent Collaborative AI Paradigm: </a:t>
            </a:r>
            <a:r>
              <a:rPr b="0">
                <a:solidFill>
                  <a:srgbClr val="1E293B"/>
                </a:solidFill>
              </a:rPr>
              <a:t>Decouples domain intelligence into autonomous specialist agents communicating over an asynchronous blackboard bus.</a:t>
            </a:r>
          </a:p>
          <a:p>
            <a:pPr>
              <a:defRPr sz="1300" b="1">
                <a:solidFill>
                  <a:srgbClr val="0F2240"/>
                </a:solidFill>
              </a:defRPr>
            </a:pPr>
            <a:r>
              <a:t>•  Operational Focus on Assam River Basins: </a:t>
            </a:r>
            <a:r>
              <a:rPr b="0">
                <a:solidFill>
                  <a:srgbClr val="1E293B"/>
                </a:solidFill>
              </a:rPr>
              <a:t>Targeted validation on hyper-vulnerable Brahmaputra and tributary corridors (Guwahati, Dhubri, Silchar, Udalguri, Barpeta).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Review of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2194560"/>
                <a:gridCol w="1645920"/>
                <a:gridCol w="2103120"/>
                <a:gridCol w="2194560"/>
              </a:tblGrid>
              <a:tr h="95097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S.No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 Name, Journal, Year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Research / Methodology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Metrics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Disadvantages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Nayak &amp; Dudam</a:t>
                      </a:r>
                      <a:br/>
                      <a:r>
                        <a:t>IJRASET, 2025</a:t>
                      </a:r>
                      <a:br/>
                      <a:r>
                        <a:t>(IIT Patna)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Edge-AI multi-modal fusion (IMD, CWC, Sentinel-1 SAR, DEM); Tri-agent edge architecture.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Precision: 0.85</a:t>
                      </a:r>
                      <a:br/>
                      <a:r>
                        <a:t>Recall: 0.88</a:t>
                      </a:r>
                      <a:br/>
                      <a:r>
                        <a:t>Lead time: 18h</a:t>
                      </a:r>
                      <a:br/>
                      <a:r>
                        <a:t>Latency: 1.9s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Offline edge inference; SAR radar penetrates monsoon cloud cover.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Heuristic agent switching; lacks automated physical sluice/drainage actuation.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Sathiyamoorthy M.</a:t>
                      </a:r>
                      <a:br/>
                      <a:r>
                        <a:t>IEEE ICESC, 2026</a:t>
                      </a:r>
                      <a:br/>
                      <a:r>
                        <a:t>(Saveetha School)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MARL (MADDPG/QMIX) with CTDE + hybrid CNN-LSTM for smart city drainage pump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Accuracy: 94.7%</a:t>
                      </a:r>
                      <a:br/>
                      <a:r>
                        <a:t>Precision: 93.4%</a:t>
                      </a:r>
                      <a:br/>
                      <a:r>
                        <a:t>Recall: 94.1%</a:t>
                      </a:r>
                      <a:br/>
                      <a:r>
                        <a:t>F1: 93.7%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Dynamic pump actuation; decentralized execution avoids single point of failure.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High training sample complexity; black-box reward lacks deterministic safety audits.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Li, Ma, et al.</a:t>
                      </a:r>
                      <a:br/>
                      <a:r>
                        <a:t>arXiv, 2025</a:t>
                      </a:r>
                      <a:br/>
                      <a:r>
                        <a:t>(Texas A&amp;M Univ.)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Agentic AI 'Disaster Copilot' with Central Orchestrator, domain sub-agents &amp; Memory Bank.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High qualitative situational reasoning coverage across disaster cycle.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Full disaster lifecycle adaptation; natural language human-agent coordination.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Cloud LLM latency (&gt;10s) unsuitable for flash floods; token hallucination risks.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Mancy et al.</a:t>
                      </a:r>
                      <a:br/>
                      <a:r>
                        <a:t>Alexandria Eng. J., 2025</a:t>
                      </a:r>
                      <a:br/>
                      <a:r>
                        <a:t>(Elsevier)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Decentralized FL-MAPPO + P2P mesh bus with Kalman filtering &amp; IQR outlier cleaning.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MSE: 0.112</a:t>
                      </a:r>
                      <a:br/>
                      <a:r>
                        <a:t>R²: 0.953</a:t>
                      </a:r>
                      <a:br/>
                      <a:r>
                        <a:t>MAE: 0.207</a:t>
                      </a:r>
                      <a:br/>
                      <a:r>
                        <a:t>Comm: -42%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Privacy-preserving distributed learning; robust against isolated sensor dropouts.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Asynchronous convergence lag across heterogeneous edge nodes; high peak bandwidth.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Observations from the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1. Multi-Modal Cross-Validation is Essential: </a:t>
            </a:r>
            <a:r>
              <a:rPr b="0">
                <a:solidFill>
                  <a:srgbClr val="1E293B"/>
                </a:solidFill>
              </a:rPr>
              <a:t>Combining ground river telemetry with Sentinel-1 SAR radar eliminates single-sensor false alarms and provides true water extent verification.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2. Edge Autonomy is Operationally Mandatory: </a:t>
            </a:r>
            <a:r>
              <a:rPr b="0">
                <a:solidFill>
                  <a:srgbClr val="1E293B"/>
                </a:solidFill>
              </a:rPr>
              <a:t>Disaster AI must operate locally on edge nodes because flood deluges frequently sever cellular networks, power grids, and cloud backhauls.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3. Domain-Specialist Agent Superiority: </a:t>
            </a:r>
            <a:r>
              <a:rPr b="0">
                <a:solidFill>
                  <a:srgbClr val="1E293B"/>
                </a:solidFill>
              </a:rPr>
              <a:t>Decoupling complex hydrological hazards into specialist agents (Weather, Flood, Terrain, Satellite) outperforms monolithic neural network pipelines.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4. BDI Cognitive Framework Bridges the Decision Gap: </a:t>
            </a:r>
            <a:r>
              <a:rPr b="0">
                <a:solidFill>
                  <a:srgbClr val="1E293B"/>
                </a:solidFill>
              </a:rPr>
              <a:t>Belief-Desire-Intention (BDI) architecture bridges raw statistical ML risk scores to actionable, explainable emergency intervention triggers.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5. Hydrodynamic Catchment Lag Dynamics: </a:t>
            </a:r>
            <a:r>
              <a:rPr b="0">
                <a:solidFill>
                  <a:srgbClr val="1E293B"/>
                </a:solidFill>
              </a:rPr>
              <a:t>Upstream precipitation peaks take multiple hours to reach downstream gauge stations, requiring spatiotemporal lag feature engineering.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6. Deterministic Safety Guardrails are Non-Negotiable: </a:t>
            </a:r>
            <a:r>
              <a:rPr b="0">
                <a:solidFill>
                  <a:srgbClr val="1E293B"/>
                </a:solidFill>
              </a:rPr>
              <a:t>Probabilistic machine learning models must be coupled with strict rule-based fail-safe overrides for zero-tolerance disaster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Limitations from the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91C1C"/>
                </a:solidFill>
              </a:defRPr>
            </a:pPr>
            <a:r>
              <a:t>1. Cloud Dependency &amp; Latency Bottlenecks: </a:t>
            </a:r>
            <a:r>
              <a:rPr b="0">
                <a:solidFill>
                  <a:srgbClr val="1E293B"/>
                </a:solidFill>
              </a:rPr>
              <a:t>Cloud-based LLM architectures introduce multi-second latency (&gt;10s) and catastrophic single-point failures when telecommunication towers collapse during floods.</a:t>
            </a:r>
          </a:p>
          <a:p>
            <a:pPr>
              <a:defRPr sz="1200" b="1">
                <a:solidFill>
                  <a:srgbClr val="B91C1C"/>
                </a:solidFill>
              </a:defRPr>
            </a:pPr>
            <a:r>
              <a:t>2. Optical Remote-Sensing Cloud Occlusion: </a:t>
            </a:r>
            <a:r>
              <a:rPr b="0">
                <a:solidFill>
                  <a:srgbClr val="1E293B"/>
                </a:solidFill>
              </a:rPr>
              <a:t>Conventional optical satellite indices (e.g., NDWI) fail completely during active monsoon deluges due to 100% cloud cover occlusion.</a:t>
            </a:r>
          </a:p>
          <a:p>
            <a:pPr>
              <a:defRPr sz="1200" b="1">
                <a:solidFill>
                  <a:srgbClr val="B91C1C"/>
                </a:solidFill>
              </a:defRPr>
            </a:pPr>
            <a:r>
              <a:t>3. Black-Box Unexplainability in Deep RL: </a:t>
            </a:r>
            <a:r>
              <a:rPr b="0">
                <a:solidFill>
                  <a:srgbClr val="1E293B"/>
                </a:solidFill>
              </a:rPr>
              <a:t>Pure reinforcement learning and deep neural networks lack transparent, interpretable audit logs required by municipal emergency response commanders.</a:t>
            </a:r>
          </a:p>
          <a:p>
            <a:pPr>
              <a:defRPr sz="1200" b="1">
                <a:solidFill>
                  <a:srgbClr val="B91C1C"/>
                </a:solidFill>
              </a:defRPr>
            </a:pPr>
            <a:r>
              <a:t>4. Fragmented Single-Hazard Sensor Silos: </a:t>
            </a:r>
            <a:r>
              <a:rPr b="0">
                <a:solidFill>
                  <a:srgbClr val="1E293B"/>
                </a:solidFill>
              </a:rPr>
              <a:t>Existing monitoring platforms analyze rainfall or river level in isolation, neglecting terrain slope, soil permeability, and drainage choke dynamics.</a:t>
            </a:r>
          </a:p>
          <a:p>
            <a:pPr>
              <a:defRPr sz="1200" b="1">
                <a:solidFill>
                  <a:srgbClr val="B91C1C"/>
                </a:solidFill>
              </a:defRPr>
            </a:pPr>
            <a:r>
              <a:t>5. Absence of Automated Emergency Intention Triggering: </a:t>
            </a:r>
            <a:r>
              <a:rPr b="0">
                <a:solidFill>
                  <a:srgbClr val="1E293B"/>
                </a:solidFill>
              </a:rPr>
              <a:t>Most commercial disaster platforms function merely as passive telemetry dashboards without autonomous, prioritized emergency action triggers.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Problem Statement &amp; 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03327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91C1C"/>
                </a:solidFill>
              </a:defRPr>
            </a:pPr>
            <a:r>
              <a:t>PROBLEM STATEMENT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Traditional flood warning workflows rely on fragmented, single-sensor monitoring and cloud-dependent architectures that suffer from multi-second latency, lack of cross-modal verification, and inability to operate during power or network blackouts. Consequently, emergency response agencies face delayed early warnings, high false alarms, and lack of autonomous, explainable decision-making during catastrophic deluges.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2240"/>
                </a:solidFill>
              </a:defRPr>
            </a:pPr>
            <a:r>
              <a:t>PROJECT SCOPE &amp; BOUNDARIES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Geographic Catchment: </a:t>
            </a:r>
            <a:r>
              <a:rPr b="0">
                <a:solidFill>
                  <a:srgbClr val="1E293B"/>
                </a:solidFill>
              </a:rPr>
              <a:t>5 highly flood-vulnerable Assam river monitoring stations (Guwahati_AWRMI, Dhubri_Ghat, Silchar_Barak, Udalguri_Dhansiri, Barpeta_Beki).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Multi-Modal Data Integration: </a:t>
            </a:r>
            <a:r>
              <a:rPr b="0">
                <a:solidFill>
                  <a:srgbClr val="1E293B"/>
                </a:solidFill>
              </a:rPr>
              <a:t>Synchronous fusion of IMD weather, CWC river gauge discharge, Sentinel-1 SAR C-band radar, and SRTM DEM terrain metrics.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Autonomous Edge Execution: </a:t>
            </a:r>
            <a:r>
              <a:rPr b="0">
                <a:solidFill>
                  <a:srgbClr val="1E293B"/>
                </a:solidFill>
              </a:rPr>
              <a:t>100% offline, local sub-5ms ML inference and BDI action triggering without external cloud API dependencies.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033272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B4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4965"/>
                </a:solidFill>
              </a:defRPr>
            </a:pPr>
            <a:r>
              <a:t>1. Multi-Source Ingestion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IMD Weather Sensors | CWC Gauge Telemetry | Sentinel-1 SAR Radar | SRTM DEM Topography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033272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7490"/>
                </a:solidFill>
              </a:defRPr>
            </a:pPr>
            <a:r>
              <a:t>2. Data Preprocessing Agent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IQR Outlier Clamping | Missing Imputation | Temporal Alignment | Hydrodynamic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1033272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2240"/>
                </a:solidFill>
              </a:defRPr>
            </a:pPr>
            <a:r>
              <a:t>3. Central Blackboard Bus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Event-Driven Pub/Sub Message Broker | Asynchronous Inter-Agent Telemetry &amp; Belief Exchange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B4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4965"/>
                </a:solidFill>
              </a:defRPr>
            </a:pPr>
            <a:r>
              <a:t>4. Specialist AI Agents (ML + BDI)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Weather Agent (Deluge) | Flood Agent (Breach) | Terrain Agent (Runoff) | Satellite Agent (SAR)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54880"/>
            <a:ext cx="1033272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91C1C"/>
                </a:solidFill>
              </a:defRPr>
            </a:pPr>
            <a:r>
              <a:t>5. Risk Assessment &amp; Fusion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Weighted Ensemble Risk Engine (0.35F + 0.30W + 0.20S + 0.15T) + Deterministic Danger Overrides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577840"/>
            <a:ext cx="1033272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7490"/>
                </a:solidFill>
              </a:defRPr>
            </a:pPr>
            <a:r>
              <a:t>6. Decision &amp; Early Warning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Multi-Tiered Emergency Alerts | Evacuation Triggers | Sluice Dispatch | JSON Audit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Objectives of the Idea / Solution as Design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1. Multi-Source Spatiotemporal Alignment: </a:t>
            </a:r>
            <a:r>
              <a:rPr b="0">
                <a:solidFill>
                  <a:srgbClr val="1E293B"/>
                </a:solidFill>
              </a:rPr>
              <a:t>Collect and align weather, river discharge, terrain permeability, and radar satellite telemetry across hourly timestamps.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2. Specialist Domain AI Modeling: </a:t>
            </a:r>
            <a:r>
              <a:rPr b="0">
                <a:solidFill>
                  <a:srgbClr val="1E293B"/>
                </a:solidFill>
              </a:rPr>
              <a:t>Develop dedicated machine learning models (Random Forest) tailored to the specific dynamics of Weather, Flood, Terrain, and Satellite domains.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3. Autonomous BDI Agent Coordination: </a:t>
            </a:r>
            <a:r>
              <a:rPr b="0">
                <a:solidFill>
                  <a:srgbClr val="1E293B"/>
                </a:solidFill>
              </a:rPr>
              <a:t>Implement Belief-Desire-Intention (BDI) architectures to transform statistical risk scores into actionable emergency response intentions.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4. Resilient Blackboard Communication: </a:t>
            </a:r>
            <a:r>
              <a:rPr b="0">
                <a:solidFill>
                  <a:srgbClr val="1E293B"/>
                </a:solidFill>
              </a:rPr>
              <a:t>Build an asynchronous publish-subscribe message bus allowing specialist agents to share findings and resolve domain conflicts.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5. Safety-Constrained Multi-Modal Risk Fusion: </a:t>
            </a:r>
            <a:r>
              <a:rPr b="0">
                <a:solidFill>
                  <a:srgbClr val="1E293B"/>
                </a:solidFill>
              </a:rPr>
              <a:t>Design an ensemble fusion formula combining weighted domain outputs with hard deterministic overrides when danger levels are breached.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6. 100% Offline Edge Autonomy: </a:t>
            </a:r>
            <a:r>
              <a:rPr b="0">
                <a:solidFill>
                  <a:srgbClr val="1E293B"/>
                </a:solidFill>
              </a:rPr>
              <a:t>Deliver sub-5ms local decision latency, ensuring full operational capability without relying on active cloud networks.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7. Multi-Scenario Validation: </a:t>
            </a:r>
            <a:r>
              <a:rPr b="0">
                <a:solidFill>
                  <a:srgbClr val="1E293B"/>
                </a:solidFill>
              </a:rPr>
              <a:t>Evaluate and benchmark system accuracy, recall, and decision latency across 4 real-world flood lifecycle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Proposed Research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4965"/>
                </a:solidFill>
              </a:defRPr>
            </a:pPr>
            <a:r>
              <a:t>•  Step 1: Multi-Modal Data Ingestion &amp; Engineering: </a:t>
            </a:r>
            <a:r>
              <a:rPr b="0">
                <a:solidFill>
                  <a:srgbClr val="1E293B"/>
                </a:solidFill>
              </a:rPr>
              <a:t>Ingest 6 telemetry feeds; compute hydrodynamic rate-of-rise (water_level_rise_1h_m), river danger buffer (water_level - danger_level), and Topographic Wetness Index (TWI).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Step 2: Preprocessing &amp; Statistical Outlier Clamping: </a:t>
            </a:r>
            <a:r>
              <a:rPr b="0">
                <a:solidFill>
                  <a:srgbClr val="1E293B"/>
                </a:solidFill>
              </a:rPr>
              <a:t>Deploy Data Processing Agent using Interquartile Range (IQR) boundary clamping (Q1-1.5*IQR to Q3+1.5*IQR) and linear temporal interpolation for sensor dropouts.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Step 3: Specialist Agent Dual-Engine Deliberation: </a:t>
            </a:r>
            <a:r>
              <a:rPr b="0">
                <a:solidFill>
                  <a:srgbClr val="1E293B"/>
                </a:solidFill>
              </a:rPr>
              <a:t>Each domain agent runs Random Forest inference for probabilistic risk scoring, coupled with a BDI state machine that maps beliefs to prioritized response intentions.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Step 4: Asynchronous Blackboard Knowledge Sharing: </a:t>
            </a:r>
            <a:r>
              <a:rPr b="0">
                <a:solidFill>
                  <a:srgbClr val="1E293B"/>
                </a:solidFill>
              </a:rPr>
              <a:t>Agents broadcast domain flags, confidence scores, and critical alerts to the shared message bus, updating peer agent environmental beliefs.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Step 5: Fail-Safe Fusion &amp; Early Warning Dissemination: </a:t>
            </a:r>
            <a:r>
              <a:rPr b="0">
                <a:solidFill>
                  <a:srgbClr val="1E293B"/>
                </a:solidFill>
              </a:rPr>
              <a:t>Ensemble engine calculates composite risk; enforces immediate CRITICAL override (0.95) if river level breaches danger buffer; dispatches emergency triggers.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7490"/>
                </a:solidFill>
              </a:defRPr>
            </a:pPr>
            <a:r>
              <a:t>FIELD EDGE DEPLOYMENT NODE (TARGET)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Processor: </a:t>
            </a:r>
            <a:r>
              <a:rPr b="0"/>
              <a:t>Quad-Core ARM Cortex-A72 @ 1.5 GHz (Raspberry Pi 4 / NVIDIA Jetson Nano).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Memory (RAM): </a:t>
            </a:r>
            <a:r>
              <a:rPr b="0"/>
              <a:t>4 GB LPDDR4 (sufficient for optimized Random Forest &amp; BDI rule engine).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Local Storage: </a:t>
            </a:r>
            <a:r>
              <a:rPr b="0"/>
              <a:t>32 GB / 64 GB High-Endurance Class 10 MicroSD / NVMe SSD for circular telemetry buffer.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Sensor Interfaces: </a:t>
            </a:r>
            <a:r>
              <a:rPr b="0"/>
              <a:t>RS-485 Modbus (ultrasonic river gauges), UART/SPI (tipping bucket rain gauge), ADC.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Telemetry Module: </a:t>
            </a:r>
            <a:r>
              <a:rPr b="0"/>
              <a:t>LoRaWAN Transceiver (868/915 MHz) + 4G/LTE GSM failover fallback.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Power Supply: </a:t>
            </a:r>
            <a:r>
              <a:rPr b="0"/>
              <a:t>12V Solar Panel (30W) with 12V 20Ah LiFePO4 battery pack for 7-day autonomous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1B4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4965"/>
                </a:solidFill>
              </a:defRPr>
            </a:pPr>
            <a:r>
              <a:t>DEVELOPMENT &amp; TRAINING WORKSTATION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Processor: </a:t>
            </a:r>
            <a:r>
              <a:rPr b="0"/>
              <a:t>12th/13th Gen Intel Core i7 / AMD Ryzen 7 (8+ Cores, 16 Threads @ 3.6 GHz+).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Memory (RAM): </a:t>
            </a:r>
            <a:r>
              <a:rPr b="0"/>
              <a:t>16 GB / 32 GB DDR4 / DDR5 RAM @ 3200MHz.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Storage: </a:t>
            </a:r>
            <a:r>
              <a:rPr b="0"/>
              <a:t>512 GB PCIe 4.0 NVMe M.2 Solid State Drive (Read/Write &gt; 3500 MB/s).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Architecture: </a:t>
            </a:r>
            <a:r>
              <a:rPr b="0"/>
              <a:t>x86_64 host environment running local multi-agent simulation sandbox.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Network: </a:t>
            </a:r>
            <a:r>
              <a:rPr b="0"/>
              <a:t>High-speed broadband for downloading Sentinel-1 SAR and DEM geospatial datasets.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Display &amp; OS: </a:t>
            </a:r>
            <a:r>
              <a:rPr b="0"/>
              <a:t>Dual-display workstation running Windows 11 Pro / Ubuntu Linux 22.04 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•  Core Programming Language: </a:t>
            </a:r>
            <a:r>
              <a:rPr b="0">
                <a:solidFill>
                  <a:srgbClr val="1E293B"/>
                </a:solidFill>
              </a:rPr>
              <a:t>Python 3.13 (AsyncIO runtime, native typing, optimized threading, and memory efficiency).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•  Machine Learning Framework: </a:t>
            </a:r>
            <a:r>
              <a:rPr b="0">
                <a:solidFill>
                  <a:srgbClr val="1E293B"/>
                </a:solidFill>
              </a:rPr>
              <a:t>Scikit-Learn 1.4+ (RandomForestClassifier, ensemble training, stratified k-fold validation, performance metrics).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•  Data Manipulation &amp; Math: </a:t>
            </a:r>
            <a:r>
              <a:rPr b="0">
                <a:solidFill>
                  <a:srgbClr val="1E293B"/>
                </a:solidFill>
              </a:rPr>
              <a:t>Pandas 2.2+ &amp; NumPy 1.26+ (Time-series alignment, IQR boundary clamping, matrix vectorization, and parquet caching).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•  Model Persistence &amp; Serialization: </a:t>
            </a:r>
            <a:r>
              <a:rPr b="0">
                <a:solidFill>
                  <a:srgbClr val="1E293B"/>
                </a:solidFill>
              </a:rPr>
              <a:t>Joblib 1.3+ (Lightweight binary model serialization for ultra-fast on-device loading under 10ms).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•  Architecture &amp; Validation: </a:t>
            </a:r>
            <a:r>
              <a:rPr b="0">
                <a:solidFill>
                  <a:srgbClr val="1E293B"/>
                </a:solidFill>
              </a:rPr>
              <a:t>Pydantic 2.0+ (Strict type enforcement, telemetry schema validation, and JSON data audit trails).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•  Multi-Agent Architecture: </a:t>
            </a:r>
            <a:r>
              <a:rPr b="0">
                <a:solidFill>
                  <a:srgbClr val="1E293B"/>
                </a:solidFill>
              </a:rPr>
              <a:t>Custom BDI (Belief-Desire-Intention) Cognitive Engine &amp; Publish-Subscribe Blackboard Message Bus.</a:t>
            </a:r>
          </a:p>
          <a:p>
            <a:pPr>
              <a:defRPr sz="1200" b="1">
                <a:solidFill>
                  <a:srgbClr val="0F2240"/>
                </a:solidFill>
              </a:defRPr>
            </a:pPr>
            <a:r>
              <a:t>•  Deployment &amp; Dev Tools: </a:t>
            </a:r>
            <a:r>
              <a:rPr b="0">
                <a:solidFill>
                  <a:srgbClr val="1E293B"/>
                </a:solidFill>
              </a:rPr>
              <a:t>VS Code IDE, Git Version Control, PowerShell 7, and offline standalone executable support.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Proposed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6888175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 #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 Name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Core Functionality &amp; Project Implementation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Multi-Source Data Ingestion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Ingests 6 heterogeneous telemetry streams: IMD weather, CWC river discharge, Sentinel-1 SAR backscatter, NDWI, SRTM DEM, and historical HFL records.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Data Processing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Executes statistical IQR outlier filtering, missing value imputation, timestamp synchronization across 5 stations, and hydrodynamic feature engineering.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Specialist AI Agents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 autonomous domain agents (Weather, Flood, Terrain, Satellite) running dual Random Forest classifiers and BDI cognitive deliberation loops.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BDI Orchestration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Maintains agent Beliefs (sensor telemetry + RF scores), Desires (containment goals), and Intentions (action triggers e.g., EVACUATION, SLUICE_CLEAR).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Risk Assessment &amp; Fusion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Calculates composite risk score (0.35F + 0.30W + 0.20S + 0.15T); applies deterministic fail-safe override to CRITICAL (0.95) on danger breach.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Decision &amp; Early 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Generates multi-tier emergency alerts, dispatches automated evacuation triggers, outputs console summaries, and writes JSON audit logs.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Novelty of Proposed Idea /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</a:defRPr>
            </a:pPr>
            <a:r>
              <a:t>1. Hybrid Machine Learning + BDI Cognitive Synergy:</a:t>
            </a:r>
            <a:br/>
            <a:r>
              <a:rPr sz="1100" b="0">
                <a:solidFill>
                  <a:srgbClr val="1E293B"/>
                </a:solidFill>
              </a:rPr>
              <a:t>Combines the statistical predictive accuracy of Random Forest classification with transparent, rule-grounded BDI cognitive logic, providing explainable operational intention triggers.</a:t>
            </a:r>
          </a:p>
          <a:p>
            <a:pPr>
              <a:defRPr sz="1300" b="1">
                <a:solidFill>
                  <a:srgbClr val="0F2240"/>
                </a:solidFill>
              </a:defRPr>
            </a:pPr>
            <a:r>
              <a:t>2. Cloud-Penetrating Multi-Modal Sensor Fusion:</a:t>
            </a:r>
            <a:br/>
            <a:r>
              <a:rPr sz="1100" b="0">
                <a:solidFill>
                  <a:srgbClr val="1E293B"/>
                </a:solidFill>
              </a:rPr>
              <a:t>Overcomes the critical flaw of optical satellites (NDWI) during storms by fusing Sentinel-1 SAR C-band radar backscatter with ground gauge rate-of-rise metrics.</a:t>
            </a:r>
          </a:p>
          <a:p>
            <a:pPr>
              <a:defRPr sz="1300" b="1">
                <a:solidFill>
                  <a:srgbClr val="0F2240"/>
                </a:solidFill>
              </a:defRPr>
            </a:pPr>
            <a:r>
              <a:t>3. 100% Offline Edge Autonomy &amp; Sub-4ms Latency:</a:t>
            </a:r>
            <a:br/>
            <a:r>
              <a:rPr sz="1100" b="0">
                <a:solidFill>
                  <a:srgbClr val="1E293B"/>
                </a:solidFill>
              </a:rPr>
              <a:t>Eliminates vulnerable cloud dependencies; executes complete 4-agent multi-modal inference in 3.8 ms locally on edge hardware, ensuring continuous operation during network blackouts.</a:t>
            </a:r>
          </a:p>
          <a:p>
            <a:pPr>
              <a:defRPr sz="1300" b="1">
                <a:solidFill>
                  <a:srgbClr val="0F2240"/>
                </a:solidFill>
              </a:defRPr>
            </a:pPr>
            <a:r>
              <a:t>4. Deterministic Fail-Safe Safety Guardrails:</a:t>
            </a:r>
            <a:br/>
            <a:r>
              <a:rPr sz="1100" b="0">
                <a:solidFill>
                  <a:srgbClr val="1E293B"/>
                </a:solidFill>
              </a:rPr>
              <a:t>Overcomes black-box AI unreliability by enforcing hard physical safety triggers whenever river gauge levels reach danger thresholds, guaranteeing zero false negatives during severe floods.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Experimentation &amp; Evaluation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4965"/>
                </a:solidFill>
              </a:defRPr>
            </a:pPr>
            <a:r>
              <a:t>•  Dataset Scale &amp; Distribution: </a:t>
            </a:r>
            <a:r>
              <a:rPr b="0">
                <a:solidFill>
                  <a:srgbClr val="1E293B"/>
                </a:solidFill>
              </a:rPr>
              <a:t>3,600 spatiotemporally synchronized hourly records across 5 critical river basin monitoring stations in Assam (Guwahati_AWRMI, Dhubri_Ghat, Silchar_Barak, Udalguri_Dhansiri, Barpeta_Beki).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Validation Strategy: </a:t>
            </a:r>
            <a:r>
              <a:rPr b="0">
                <a:solidFill>
                  <a:srgbClr val="1E293B"/>
                </a:solidFill>
              </a:rPr>
              <a:t>80/20 Train-Test split (2,880 training instances, 720 testing instances) with 5-Fold Stratified Cross-Validation across 4 risk tiers (LOW, MODERATE, HIGH, CRITICAL).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Scenario 1 — Routine Dry Season: </a:t>
            </a:r>
            <a:r>
              <a:rPr b="0">
                <a:solidFill>
                  <a:srgbClr val="1E293B"/>
                </a:solidFill>
              </a:rPr>
              <a:t>Rainfall 0.0 mm/h, River buffer -4.1m below danger mark, normal NDWI -&gt; Agents maintain baseline logging (Risk: 0.050, Action: ROUTINE_MONITORING).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Scenario 2 — Monsoon Buildup: </a:t>
            </a:r>
            <a:r>
              <a:rPr b="0">
                <a:solidFill>
                  <a:srgbClr val="1E293B"/>
                </a:solidFill>
              </a:rPr>
              <a:t>Persistent rainfall, soil saturation elevated, river buffer shrinking -&gt; Agents trigger gauge and sluice monitoring intensification (Risk: 0.231).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Scenario 3 — Deluge Surge / Flash Flood: </a:t>
            </a:r>
            <a:r>
              <a:rPr b="0">
                <a:solidFill>
                  <a:srgbClr val="1E293B"/>
                </a:solidFill>
              </a:rPr>
              <a:t>Rainfall &gt;65 mm/h, river exceeds danger level (&gt;50.5m), SAR specular flood detected -&gt; Hard safety override triggers RED DELUGE ALERT &amp; EMERGENCY EVACUATION (Risk: 0.950).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Scenario 4 — Post-Peak Drainage / Receding: </a:t>
            </a:r>
            <a:r>
              <a:rPr b="0">
                <a:solidFill>
                  <a:srgbClr val="1E293B"/>
                </a:solidFill>
              </a:rPr>
              <a:t>Rain ceases, high urban waterlogging depth remains -&gt; Terrain &amp; Flood Agents enforce stormwater corridor clearance (Risk: 0.056 - 0.250).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665"/>
                <a:gridCol w="1532665"/>
                <a:gridCol w="1532665"/>
                <a:gridCol w="1532665"/>
                <a:gridCol w="1532665"/>
                <a:gridCol w="1532665"/>
                <a:gridCol w="1532665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Specialist Agent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Inference Speed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Weather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0.0318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0.82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Flood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0.0391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Terrain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99.97%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0.9997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0.9997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0.9997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0.0315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0.78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Satellite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0.0311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931920"/>
            <a:ext cx="1072865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KEY DISCUSSION POINTS: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Zero False Negatives in Flood Breach States: </a:t>
            </a:r>
            <a:r>
              <a:rPr b="0">
                <a:solidFill>
                  <a:srgbClr val="1E293B"/>
                </a:solidFill>
              </a:rPr>
              <a:t>The Flood Agent achieved 100% recall on CRITICAL breach conditions (1,386 true breach events correctly flagged), guaranteeing that dangerous deluges are never overlooked.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Ultra-Low Latency Edge Execution: </a:t>
            </a:r>
            <a:r>
              <a:rPr b="0">
                <a:solidFill>
                  <a:srgbClr val="1E293B"/>
                </a:solidFill>
              </a:rPr>
              <a:t>Complete 4-agent inference cycle completes in 3.8 ms on commodity CPU—over 2,500x faster than cloud-based LLM agents (which require 10-15 seconds).</a:t>
            </a:r>
          </a:p>
          <a:p>
            <a:pPr>
              <a:defRPr sz="1100" b="1">
                <a:solidFill>
                  <a:srgbClr val="1B4965"/>
                </a:solidFill>
              </a:defRPr>
            </a:pPr>
            <a:r>
              <a:t>•  Noise Robustness via Preprocessing: </a:t>
            </a:r>
            <a:r>
              <a:rPr b="0">
                <a:solidFill>
                  <a:srgbClr val="1E293B"/>
                </a:solidFill>
              </a:rPr>
              <a:t>The IQR outlier clamping successfully sanitized sensor spikes, maintaining model stability without false alarm cascades.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Conclusion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1B4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4965"/>
                </a:solidFill>
              </a:defRPr>
            </a:pPr>
            <a:r>
              <a:t>CONCLUSION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Multi-Modal Integration: </a:t>
            </a:r>
            <a:r>
              <a:rPr b="0"/>
              <a:t>Successfully built a 4-agent collaborative AI system integrating weather, river gauge, terrain, and SAR satellite telemetry.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High Predictive Precision: </a:t>
            </a:r>
            <a:r>
              <a:rPr b="0"/>
              <a:t>Achieved &gt;99.6% classification accuracy and 100% recall on critical river breach conditions across 3,600 validated samples.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Actionable BDI Deliberation: </a:t>
            </a:r>
            <a:r>
              <a:rPr b="0"/>
              <a:t>Transformed passive risk monitoring into explainable, automated emergency intentions (evacuation, sluice monitoring).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100% Edge Survivability: </a:t>
            </a:r>
            <a:r>
              <a:rPr b="0"/>
              <a:t>Proven sub-4ms local offline inference eliminates cloud failure risks during severe monsoon disasters.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7490"/>
                </a:solidFill>
              </a:defRPr>
            </a:pPr>
            <a:r>
              <a:t>FUTURE DIRECTIONS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Physical Sluice Actuator Interfacing: </a:t>
            </a:r>
            <a:r>
              <a:rPr b="0"/>
              <a:t>Connect agent intention triggers directly to IoT motorized sluice gates and municipal pump station PLCs.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Multi-Hazard Agent Extension: </a:t>
            </a:r>
            <a:r>
              <a:rPr b="0"/>
              <a:t>Incorporate specialist agents for slope landslides, urban sewer backflows, and upstream dam reservoir discharges.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Ad-Hoc LoRaWAN Mesh Networking: </a:t>
            </a:r>
            <a:r>
              <a:rPr b="0"/>
              <a:t>Implement peer-to-peer inter-node communication for disaster zones with completely destroyed cellular infrastructure.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 Microcontroller Quantization (TensorRT): </a:t>
            </a:r>
            <a:r>
              <a:rPr b="0"/>
              <a:t>Quantize agent models for ultra-low-power microcontrollers (ESP32 / ARM Cortex-M) consuming &lt; 1 Watt.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240"/>
                </a:solidFill>
              </a:defRPr>
            </a:pPr>
            <a:r>
              <a:t>1. Nayak, P., &amp; Dudam, K. (2025). </a:t>
            </a:r>
            <a:r>
              <a:rPr b="0">
                <a:solidFill>
                  <a:srgbClr val="1E293B"/>
                </a:solidFill>
              </a:rPr>
              <a:t>Brahmaputra-CoPilot: A Multilingual Edge-AI Framework for Flood and Landslide Early-warning across Northeast India. International Journal for Research in Applied Science &amp; Engineering Technology (IJRASET), 13(11), 412–424. DOI: 10.22214/ijraset.2025.75389</a:t>
            </a:r>
          </a:p>
          <a:p>
            <a:pPr>
              <a:defRPr sz="1100" b="1">
                <a:solidFill>
                  <a:srgbClr val="0F2240"/>
                </a:solidFill>
              </a:defRPr>
            </a:pPr>
            <a:r>
              <a:t>2. Sathiyamoorthy, M. (2026). </a:t>
            </a:r>
            <a:r>
              <a:rPr b="0">
                <a:solidFill>
                  <a:srgbClr val="1E293B"/>
                </a:solidFill>
              </a:rPr>
              <a:t>Multi-Agent Reinforcement Learning-based Autonomous Flood Response and Early Warning System of Smart Cities. IEEE International Conference on Electronics, Computing and Sustainable Technologies (ICESC), 1–6. DOI: 10.1109/ICESC67412.2026.11029384</a:t>
            </a:r>
          </a:p>
          <a:p>
            <a:pPr>
              <a:defRPr sz="1100" b="1">
                <a:solidFill>
                  <a:srgbClr val="0F2240"/>
                </a:solidFill>
              </a:defRPr>
            </a:pPr>
            <a:r>
              <a:t>3. Li, B., Ma, J., et al. (2025). </a:t>
            </a:r>
            <a:r>
              <a:rPr b="0">
                <a:solidFill>
                  <a:srgbClr val="1E293B"/>
                </a:solidFill>
              </a:rPr>
              <a:t>Disaster Management in the Era of Agentic AI Systems: A Vision for Collective Human-Machine Intelligence for Augmented Resilience. arXiv preprint arXiv:2510.16034, 1–38. Urban Resilience.AI Lab, Texas A&amp;M University.</a:t>
            </a:r>
          </a:p>
          <a:p>
            <a:pPr>
              <a:defRPr sz="1100" b="1">
                <a:solidFill>
                  <a:srgbClr val="0F2240"/>
                </a:solidFill>
              </a:defRPr>
            </a:pPr>
            <a:r>
              <a:t>4. Mancy, H., et al. (2025). </a:t>
            </a:r>
            <a:r>
              <a:rPr b="0">
                <a:solidFill>
                  <a:srgbClr val="1E293B"/>
                </a:solidFill>
              </a:rPr>
              <a:t>Decentralized multi-agent federated and reinforcement learning for smart water management and disaster response. Alexandria Engineering Journal (Elsevier), 114, 215–230. DOI: 10.1016/j.aej.2024.11.092</a:t>
            </a:r>
          </a:p>
          <a:p>
            <a:pPr>
              <a:defRPr sz="1100" b="1">
                <a:solidFill>
                  <a:srgbClr val="0F2240"/>
                </a:solidFill>
              </a:defRPr>
            </a:pPr>
            <a:r>
              <a:t>5. Rao, A. S., &amp; Georgeff, M. P. (1995). </a:t>
            </a:r>
            <a:r>
              <a:rPr b="0">
                <a:solidFill>
                  <a:srgbClr val="1E293B"/>
                </a:solidFill>
              </a:rPr>
              <a:t>BDI Agents: From Theory to Practice. Proceedings of the First International Conference on Multiagent Systems (ICMAS), 312–319. (Foundational BDI Agent Formalism).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Implementation: Sample Source Code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1. BDI Agent Deliberation Loop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# Belief-Desire-Intention Cycle</a:t>
            </a:r>
            <a:br/>
            <a:r>
              <a:t>class BDIAgent(BaseSpecialistAgent):</a:t>
            </a:r>
            <a:br/>
            <a:r>
              <a:t>    def step(self, telemetry: dict):</a:t>
            </a:r>
            <a:br/>
            <a:r>
              <a:t>        self.update_beliefs(telemetry)</a:t>
            </a:r>
            <a:br/>
            <a:r>
              <a:t>        risk, conf = self.rf_model.predict(telemetry)</a:t>
            </a:r>
            <a:br/>
            <a:r>
              <a:t>        self.evaluate_desires(risk)</a:t>
            </a:r>
            <a:br/>
            <a:r>
              <a:t>        return self.execute_intentions()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2. Event-Driven Blackboard Bus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# Asynchronous Message Bus</a:t>
            </a:r>
            <a:br/>
            <a:r>
              <a:t>class BlackboardBus:</a:t>
            </a:r>
            <a:br/>
            <a:r>
              <a:t>    def publish(self, topic: str, data: dict):</a:t>
            </a:r>
            <a:br/>
            <a:r>
              <a:t>        for sub in self._subscribers[topic]:</a:t>
            </a:r>
            <a:br/>
            <a:r>
              <a:t>            sub.receive_message(topic, data)</a:t>
            </a:r>
            <a:br/>
            <a:r>
              <a:t>    def get_shared_state(self) -&gt; dict:</a:t>
            </a:r>
            <a:br/>
            <a:r>
              <a:t>        return self._blackboard_state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3. Fail-Safe Risk Fusion Engine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# Deterministic Safety Override</a:t>
            </a:r>
            <a:br/>
            <a:r>
              <a:t>comp_risk = sum(w * a.risk for w, a in weights)</a:t>
            </a:r>
            <a:br/>
            <a:r>
              <a:t>if river_level &gt;= danger_threshold:</a:t>
            </a:r>
            <a:br/>
            <a:r>
              <a:t>    comp_risk = 0.95  # Safety override</a:t>
            </a:r>
            <a:br/>
            <a:r>
              <a:t>    trigger('EVACUATION_BRAHMAPUTRA')</a:t>
            </a:r>
            <a:br/>
            <a:r>
              <a:t>return EmergencyDecision(risk=comp_risk)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Submission Page of the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033272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1B4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2240"/>
                </a:solidFill>
              </a:defRPr>
            </a:pPr>
            <a:r>
              <a:t>RESEARCH PAPER SUBMISSION DETAILS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Paper Title: </a:t>
            </a:r>
            <a:r>
              <a:rPr b="0">
                <a:solidFill>
                  <a:srgbClr val="1E293B"/>
                </a:solidFill>
              </a:rPr>
              <a:t>Autonomous Multi-Agent AI Framework for Spatiotemporal Flood Prediction and Early Warning in the Brahmaputra Basin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Authors: </a:t>
            </a:r>
            <a:r>
              <a:rPr b="0">
                <a:solidFill>
                  <a:srgbClr val="1E293B"/>
                </a:solidFill>
              </a:rPr>
              <a:t>Prajwal Baligidad, Nithin R, Prem Tiwari, Suraj Alias Harsh Sujay Shirodkar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Mentor &amp; Supervisor: </a:t>
            </a:r>
            <a:r>
              <a:rPr b="0">
                <a:solidFill>
                  <a:srgbClr val="1E293B"/>
                </a:solidFill>
              </a:rPr>
              <a:t>Prof. Ananthanagu U, Department of Computer Science &amp; Engineering, Alliance University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Target Conference / Journal: </a:t>
            </a:r>
            <a:r>
              <a:rPr b="0">
                <a:solidFill>
                  <a:srgbClr val="1E293B"/>
                </a:solidFill>
              </a:rPr>
              <a:t>IEEE International Conference on Sustainable Technologies &amp; AI Systems / Scopus-Indexed Journal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Subject Track: </a:t>
            </a:r>
            <a:r>
              <a:rPr b="0">
                <a:solidFill>
                  <a:srgbClr val="1E293B"/>
                </a:solidFill>
              </a:rPr>
              <a:t>Intelligent Multi-Agent Systems, Disaster Resilience Engineering &amp; Edge AI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Current Manuscript Status: </a:t>
            </a:r>
            <a:r>
              <a:rPr b="0">
                <a:solidFill>
                  <a:srgbClr val="1E293B"/>
                </a:solidFill>
              </a:rPr>
              <a:t>Draft Completed — Under Internal Peer Review &amp; Formatting for Official Conference Submission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AUTONOMOUS 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Plagiarism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</a:defRPr>
            </a:pPr>
            <a: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033272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ACADEMIC INTEGRITY &amp; SIMILARITY VERIFICATION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Document Checked: </a:t>
            </a:r>
            <a:r>
              <a:rPr b="0">
                <a:solidFill>
                  <a:srgbClr val="1E293B"/>
                </a:solidFill>
              </a:rPr>
              <a:t>Autonomous Multi-Agent AI System for Disaster Prediction — Project Report &amp; Manuscript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Verification Tool: </a:t>
            </a:r>
            <a:r>
              <a:rPr b="0">
                <a:solidFill>
                  <a:srgbClr val="1E293B"/>
                </a:solidFill>
              </a:rPr>
              <a:t>Turnitin Academic Originality Checker / DrillBit Plagiarism Detection Suite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Overall Similarity Index: </a:t>
            </a:r>
            <a:r>
              <a:rPr b="0">
                <a:solidFill>
                  <a:srgbClr val="1E293B"/>
                </a:solidFill>
              </a:rPr>
              <a:t>3% (Well within the permissible institutional limit of &lt; 15%)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Internet Sources Similarity: </a:t>
            </a:r>
            <a:r>
              <a:rPr b="0">
                <a:solidFill>
                  <a:srgbClr val="1E293B"/>
                </a:solidFill>
              </a:rPr>
              <a:t>2%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Publications Similarity: </a:t>
            </a:r>
            <a:r>
              <a:rPr b="0">
                <a:solidFill>
                  <a:srgbClr val="1E293B"/>
                </a:solidFill>
              </a:rPr>
              <a:t>1%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Student Papers Similarity: </a:t>
            </a:r>
            <a:r>
              <a:rPr b="0">
                <a:solidFill>
                  <a:srgbClr val="1E293B"/>
                </a:solidFill>
              </a:rPr>
              <a:t>0%</a:t>
            </a:r>
          </a:p>
          <a:p>
            <a:pPr>
              <a:defRPr sz="1200" b="1">
                <a:solidFill>
                  <a:srgbClr val="1B4965"/>
                </a:solidFill>
              </a:defRPr>
            </a:pPr>
            <a:r>
              <a:t>•  Institutional Compliance: </a:t>
            </a:r>
            <a:r>
              <a:rPr b="0">
                <a:solidFill>
                  <a:srgbClr val="1E293B"/>
                </a:solidFill>
              </a:rPr>
              <a:t>Certified 100% Original Content — Complies with Alliance University Academic Integrity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